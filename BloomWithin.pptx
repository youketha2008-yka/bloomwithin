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embeddedFontLst>
    <p:embeddedFont>
      <p:font typeface="Open Sans"/>
      <p:regular r:id="rId15"/>
      <p:bold r:id="rId16"/>
      <p:italic r:id="rId17"/>
      <p:boldItalic r:id="rId18"/>
    </p:embeddedFont>
    <p:embeddedFont>
      <p:font typeface="Poppins" panose="00000600000000000000"/>
      <p:regular r:id="rId19"/>
      <p:bold r:id="rId20"/>
      <p:italic r:id="rId21"/>
      <p:boldItalic r:id="rId22"/>
    </p:embeddedFont>
    <p:embeddedFont>
      <p:font typeface="Roboto Mono" panose="0000000900000000000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2.fntdata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" name="Google Shape;18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Cover: project name, tagline, hackathon, team and the live homepage screenshot.</a:t>
            </a:r>
            <a:endParaRPr lang="en-US"/>
          </a:p>
        </p:txBody>
      </p:sp>
      <p:sp>
        <p:nvSpPr>
          <p:cNvPr id="19" name="Google Shape;19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" name="Google Shape;84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3" name="Google Shape;183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0" name="Google Shape;220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rgbClr val="FAF8F6"/>
        </a:solidFill>
        <a:effectLst/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rgbClr val="FAF8F6"/>
        </a:solidFill>
        <a:effectLst/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3200"/>
              <a:buFont typeface="Poppins" panose="00000600000000000000"/>
              <a:buNone/>
              <a:defRPr sz="3200" b="1" i="0" u="none" strike="noStrike" cap="none">
                <a:solidFill>
                  <a:srgbClr val="593B6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1"/>
          <p:cNvSpPr txBox="1"/>
          <p:nvPr>
            <p:ph type="sldNum" idx="12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sldNum" idx="12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bloomwithin-ypforwomen-ac01a5.netlify.app/" TargetMode="Externa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wcd.gov.in/" TargetMode="External"/><Relationship Id="rId4" Type="http://schemas.openxmlformats.org/officeDocument/2006/relationships/hyperlink" Target="https://mohfw.gov.in/" TargetMode="External"/><Relationship Id="rId3" Type="http://schemas.openxmlformats.org/officeDocument/2006/relationships/hyperlink" Target="https://www.who.int/health-topics/menopause" TargetMode="External"/><Relationship Id="rId2" Type="http://schemas.openxmlformats.org/officeDocument/2006/relationships/hyperlink" Target="https://www.who.int/news-room/fact-sheets/detail/polycystic-ovary-syndrome" TargetMode="External"/><Relationship Id="rId1" Type="http://schemas.openxmlformats.org/officeDocument/2006/relationships/hyperlink" Target="https://bloomwithin-ypforwomen-ac01a5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 txBox="1"/>
          <p:nvPr/>
        </p:nvSpPr>
        <p:spPr>
          <a:xfrm>
            <a:off x="640080" y="100584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3F76"/>
              </a:buClr>
              <a:buSzPts val="6000"/>
              <a:buFont typeface="Poppins" panose="00000600000000000000"/>
              <a:buNone/>
            </a:pPr>
            <a:r>
              <a:rPr lang="en-US" sz="6000" b="1" i="0" u="none" strike="noStrike" cap="none">
                <a:solidFill>
                  <a:srgbClr val="713F76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BloomWithin</a:t>
            </a:r>
            <a:endParaRPr sz="60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640080" y="2194560"/>
            <a:ext cx="58521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2800"/>
              <a:buFont typeface="Poppins" panose="00000600000000000000"/>
              <a:buNone/>
            </a:pPr>
            <a:r>
              <a:rPr lang="en-US" sz="2800" b="1" i="0" u="none" strike="noStrike" cap="none">
                <a:solidFill>
                  <a:srgbClr val="302D3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Understand your body.</a:t>
            </a:r>
            <a:endParaRPr sz="2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2800"/>
              <a:buFont typeface="Poppins" panose="00000600000000000000"/>
              <a:buNone/>
            </a:pPr>
            <a:r>
              <a:rPr lang="en-US" sz="2800" b="1" i="0" u="none" strike="noStrike" cap="none">
                <a:solidFill>
                  <a:srgbClr val="302D3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Nurture your wellbeing.</a:t>
            </a:r>
            <a:endParaRPr sz="2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640080" y="3611880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3F76"/>
              </a:buClr>
              <a:buSzPts val="2000"/>
              <a:buFont typeface="Poppins" panose="00000600000000000000"/>
              <a:buNone/>
            </a:pPr>
            <a:r>
              <a:rPr lang="en-US" sz="2000" b="1" i="0" u="none" strike="noStrike" cap="none">
                <a:solidFill>
                  <a:srgbClr val="713F76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recHERsion’26  |  Women’s Health</a:t>
            </a:r>
            <a:endParaRPr sz="20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640080" y="416052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Open Sans"/>
              <a:buNone/>
            </a:pPr>
            <a:r>
              <a:rPr lang="en-US" sz="1800" b="0" i="0" u="none" strike="noStrike" cap="none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A web-based women’s health and wellbeing toolkit for learning, symptom awareness, reflection and preparing for healthcare conversations.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640080" y="580644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9636C"/>
              </a:buClr>
              <a:buSzPts val="1800"/>
              <a:buFont typeface="Open Sans"/>
              <a:buNone/>
            </a:pPr>
            <a:r>
              <a:rPr lang="en-US" sz="1800" b="1" i="0" u="none" strike="noStrike" cap="none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 Presented by  : </a:t>
            </a:r>
            <a:r>
              <a:rPr lang="en-US" sz="1800" b="1" i="0" u="none" strike="noStrike" cap="none">
                <a:solidFill>
                  <a:schemeClr val="bg2">
                    <a:lumMod val="7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Youketha R And </a:t>
            </a:r>
            <a:r>
              <a:rPr lang="en-US" sz="1800" b="1">
                <a:solidFill>
                  <a:schemeClr val="bg2">
                    <a:lumMod val="7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Pritika Madanraj</a:t>
            </a:r>
            <a:endParaRPr lang="en-US" sz="1800" b="1" i="0" u="none" strike="noStrike" cap="none">
              <a:solidFill>
                <a:schemeClr val="bg2">
                  <a:lumMod val="7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675120" y="123444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F0E5FA"/>
          </a:solidFill>
          <a:ln w="9525" cap="flat" cmpd="sng">
            <a:solidFill>
              <a:srgbClr val="F4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894576" y="1682496"/>
            <a:ext cx="4498848" cy="2101002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" name="Google Shape;28;p1" descr="BloomWithin homepag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949440" y="1737360"/>
            <a:ext cx="4389120" cy="1991274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 txBox="1"/>
          <p:nvPr/>
        </p:nvSpPr>
        <p:spPr>
          <a:xfrm>
            <a:off x="6949440" y="411480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3F76"/>
              </a:buClr>
              <a:buSzPts val="1500"/>
              <a:buFont typeface="Open Sans"/>
              <a:buNone/>
            </a:pPr>
            <a:r>
              <a:rPr lang="en-US" sz="1500" b="1">
                <a:solidFill>
                  <a:srgbClr val="713F76"/>
                </a:solidFill>
                <a:latin typeface="Open Sans"/>
                <a:ea typeface="Open Sans"/>
                <a:cs typeface="Open Sans"/>
                <a:sym typeface="Open Sans"/>
              </a:rPr>
              <a:t>Homepage of the live prototype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6949440" y="452628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3D77"/>
              </a:buClr>
              <a:buSzPts val="1300"/>
              <a:buFont typeface="Open Sans"/>
              <a:buNone/>
            </a:pPr>
            <a:r>
              <a:rPr lang="en-US" sz="1300" u="sng">
                <a:solidFill>
                  <a:srgbClr val="8B3D77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bloomwithin-ypforwomen-ac01a5.netlify.app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13F76"/>
              </a:buClr>
              <a:buSzPts val="3200"/>
              <a:buFont typeface="Poppins" panose="00000600000000000000"/>
              <a:buNone/>
            </a:pPr>
            <a:r>
              <a:rPr lang="en-US" sz="3200" b="1">
                <a:solidFill>
                  <a:srgbClr val="713F76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The challenge and our solution</a:t>
            </a:r>
            <a:endParaRPr sz="3200"/>
          </a:p>
        </p:txBody>
      </p:sp>
      <p:sp>
        <p:nvSpPr>
          <p:cNvPr id="37" name="Google Shape;37;p2"/>
          <p:cNvSpPr txBox="1"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3F76"/>
              </a:buClr>
              <a:buSzPts val="2200"/>
              <a:buFont typeface="Poppins" panose="00000600000000000000"/>
              <a:buNone/>
            </a:pPr>
            <a:r>
              <a:rPr lang="en-US" sz="2200" b="1">
                <a:solidFill>
                  <a:srgbClr val="713F76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The challenge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6309360" y="128016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8C8C"/>
              </a:buClr>
              <a:buSzPts val="2200"/>
              <a:buFont typeface="Poppins" panose="00000600000000000000"/>
              <a:buNone/>
            </a:pPr>
            <a:r>
              <a:rPr lang="en-US" sz="2200" b="1">
                <a:solidFill>
                  <a:srgbClr val="168C8C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Our solution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1874520"/>
            <a:ext cx="539496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1520" y="2011680"/>
            <a:ext cx="566928" cy="566928"/>
          </a:xfrm>
          <a:prstGeom prst="ellipse">
            <a:avLst/>
          </a:prstGeom>
          <a:solidFill>
            <a:srgbClr val="BFEDE5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1" name="Google Shape;41;p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90260" y="2170420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1508760" y="196596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Poppins" panose="00000600000000000000"/>
              <a:buNone/>
            </a:pPr>
            <a:r>
              <a:rPr lang="en-US" sz="1800" b="1">
                <a:solidFill>
                  <a:srgbClr val="302D3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Stigma and hesitation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508760" y="233172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9636C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  <a:t>Sensitive topics feel hard to raise.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2852928"/>
            <a:ext cx="539496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31520" y="2990088"/>
            <a:ext cx="566928" cy="566928"/>
          </a:xfrm>
          <a:prstGeom prst="ellipse">
            <a:avLst/>
          </a:prstGeom>
          <a:solidFill>
            <a:srgbClr val="D7E7FF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6" name="Google Shape;46;p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90260" y="3148828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 txBox="1"/>
          <p:nvPr/>
        </p:nvSpPr>
        <p:spPr>
          <a:xfrm>
            <a:off x="1508760" y="294436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Poppins" panose="00000600000000000000"/>
              <a:buNone/>
            </a:pPr>
            <a:r>
              <a:rPr lang="en-US" sz="1800" b="1">
                <a:solidFill>
                  <a:srgbClr val="302D3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Information overload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508760" y="331012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9636C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  <a:t>Online advice can be confusing.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3831336"/>
            <a:ext cx="539496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31520" y="3968496"/>
            <a:ext cx="566928" cy="566928"/>
          </a:xfrm>
          <a:prstGeom prst="ellipse">
            <a:avLst/>
          </a:prstGeom>
          <a:solidFill>
            <a:srgbClr val="BFEDE5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1" name="Google Shape;51;p2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0260" y="4127236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 txBox="1"/>
          <p:nvPr/>
        </p:nvSpPr>
        <p:spPr>
          <a:xfrm>
            <a:off x="1508760" y="3922776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Poppins" panose="00000600000000000000"/>
              <a:buNone/>
            </a:pPr>
            <a:r>
              <a:rPr lang="en-US" sz="1800" b="1">
                <a:solidFill>
                  <a:srgbClr val="302D3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Unclear symptoms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1508760" y="4288536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9636C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  <a:t>Hard to know what to note or ask.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48640" y="4809744"/>
            <a:ext cx="539496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31520" y="4946904"/>
            <a:ext cx="566928" cy="566928"/>
          </a:xfrm>
          <a:prstGeom prst="ellipse">
            <a:avLst/>
          </a:prstGeom>
          <a:solidFill>
            <a:srgbClr val="D7E7FF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" name="Google Shape;56;p2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90260" y="5105644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 txBox="1"/>
          <p:nvPr/>
        </p:nvSpPr>
        <p:spPr>
          <a:xfrm>
            <a:off x="1508760" y="490118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Poppins" panose="00000600000000000000"/>
              <a:buNone/>
            </a:pPr>
            <a:r>
              <a:rPr lang="en-US" sz="1800" b="1">
                <a:solidFill>
                  <a:srgbClr val="302D3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Overlooked wellbeing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1508760" y="5266944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9636C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  <a:t>Stress is easy to forget.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309360" y="1874520"/>
            <a:ext cx="5303520" cy="850392"/>
          </a:xfrm>
          <a:prstGeom prst="roundRect">
            <a:avLst>
              <a:gd name="adj" fmla="val 12903"/>
            </a:avLst>
          </a:prstGeom>
          <a:solidFill>
            <a:srgbClr val="C9F0EA"/>
          </a:solidFill>
          <a:ln w="9525" cap="flat" cmpd="sng">
            <a:solidFill>
              <a:srgbClr val="F4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492240" y="2011680"/>
            <a:ext cx="566928" cy="566928"/>
          </a:xfrm>
          <a:prstGeom prst="ellipse">
            <a:avLst/>
          </a:prstGeom>
          <a:solidFill>
            <a:srgbClr val="BFEDE5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1" name="Google Shape;61;p2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50980" y="2170420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/>
          <p:nvPr/>
        </p:nvSpPr>
        <p:spPr>
          <a:xfrm>
            <a:off x="7269480" y="19659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8C8C"/>
              </a:buClr>
              <a:buSzPts val="2000"/>
              <a:buFont typeface="Poppins" panose="00000600000000000000"/>
              <a:buNone/>
            </a:pPr>
            <a:r>
              <a:rPr lang="en-US" sz="2000" b="1">
                <a:solidFill>
                  <a:srgbClr val="168C8C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Learn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7269480" y="23317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PCOS and menopause basics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309360" y="2852928"/>
            <a:ext cx="5303520" cy="850392"/>
          </a:xfrm>
          <a:prstGeom prst="roundRect">
            <a:avLst>
              <a:gd name="adj" fmla="val 12903"/>
            </a:avLst>
          </a:prstGeom>
          <a:solidFill>
            <a:srgbClr val="FFE0D6"/>
          </a:solidFill>
          <a:ln w="9525" cap="flat" cmpd="sng">
            <a:solidFill>
              <a:srgbClr val="F6B8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492240" y="2990088"/>
            <a:ext cx="566928" cy="566928"/>
          </a:xfrm>
          <a:prstGeom prst="ellipse">
            <a:avLst/>
          </a:prstGeom>
          <a:solidFill>
            <a:srgbClr val="D7E7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6" name="Google Shape;66;p2" descr="preencoded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650980" y="3148828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 txBox="1"/>
          <p:nvPr/>
        </p:nvSpPr>
        <p:spPr>
          <a:xfrm>
            <a:off x="7269480" y="294436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000"/>
              <a:buFont typeface="Poppins" panose="00000600000000000000"/>
              <a:buNone/>
            </a:pPr>
            <a:r>
              <a:rPr lang="en-US" sz="2000" b="1">
                <a:solidFill>
                  <a:srgbClr val="E76F51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Track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7269480" y="33101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Record symptom entries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309360" y="3831336"/>
            <a:ext cx="5303520" cy="850392"/>
          </a:xfrm>
          <a:prstGeom prst="roundRect">
            <a:avLst>
              <a:gd name="adj" fmla="val 12903"/>
            </a:avLst>
          </a:prstGeom>
          <a:solidFill>
            <a:srgbClr val="D9EAFE"/>
          </a:solidFill>
          <a:ln w="9525" cap="flat" cmpd="sng">
            <a:solidFill>
              <a:srgbClr val="C8E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492240" y="3968496"/>
            <a:ext cx="566928" cy="566928"/>
          </a:xfrm>
          <a:prstGeom prst="ellipse">
            <a:avLst/>
          </a:prstGeom>
          <a:solidFill>
            <a:srgbClr val="BFEDE5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2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650980" y="4127236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 txBox="1"/>
          <p:nvPr/>
        </p:nvSpPr>
        <p:spPr>
          <a:xfrm>
            <a:off x="7269480" y="392277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79B8"/>
              </a:buClr>
              <a:buSzPts val="2000"/>
              <a:buFont typeface="Poppins" panose="00000600000000000000"/>
              <a:buNone/>
            </a:pPr>
            <a:r>
              <a:rPr lang="en-US" sz="2000" b="1">
                <a:solidFill>
                  <a:srgbClr val="3979B8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Reflect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7269480" y="4288536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Mood check-in and mini-game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309360" y="4809744"/>
            <a:ext cx="5303520" cy="850392"/>
          </a:xfrm>
          <a:prstGeom prst="roundRect">
            <a:avLst>
              <a:gd name="adj" fmla="val 12903"/>
            </a:avLst>
          </a:prstGeom>
          <a:solidFill>
            <a:srgbClr val="DDF3D5"/>
          </a:solidFill>
          <a:ln w="9525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492240" y="4946904"/>
            <a:ext cx="566928" cy="566928"/>
          </a:xfrm>
          <a:prstGeom prst="ellipse">
            <a:avLst/>
          </a:prstGeom>
          <a:solidFill>
            <a:srgbClr val="D7E7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6" name="Google Shape;76;p2" descr="preencoded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650980" y="5105644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 txBox="1"/>
          <p:nvPr/>
        </p:nvSpPr>
        <p:spPr>
          <a:xfrm>
            <a:off x="7269480" y="4901184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3845B"/>
              </a:buClr>
              <a:buSzPts val="2000"/>
              <a:buFont typeface="Poppins" panose="00000600000000000000"/>
              <a:buNone/>
            </a:pPr>
            <a:r>
              <a:rPr lang="en-US" sz="2000" b="1">
                <a:solidFill>
                  <a:srgbClr val="43845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Review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7269480" y="526694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Summary to prepare questions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800"/>
              <a:buFont typeface="Open Sans"/>
              <a:buNone/>
            </a:pPr>
            <a:r>
              <a:rPr lang="en-US" sz="1800" b="1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</a:rPr>
              <a:t>Designed to support awareness and reflection, not to replace professional care.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2"/>
          <p:cNvSpPr txBox="1"/>
          <p:nvPr>
            <p:ph type="sldNum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</a:fld>
            <a:endParaRPr sz="1200">
              <a:solidFill>
                <a:srgbClr val="69636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13F76"/>
              </a:buClr>
              <a:buSzPts val="3200"/>
              <a:buFont typeface="Poppins" panose="00000600000000000000"/>
              <a:buNone/>
            </a:pPr>
            <a:r>
              <a:rPr lang="en-US" sz="3200" b="1">
                <a:solidFill>
                  <a:srgbClr val="713F76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Explore the prototype</a:t>
            </a:r>
            <a:endParaRPr sz="3200"/>
          </a:p>
        </p:txBody>
      </p:sp>
      <p:sp>
        <p:nvSpPr>
          <p:cNvPr id="87" name="Google Shape;87;p3"/>
          <p:cNvSpPr/>
          <p:nvPr/>
        </p:nvSpPr>
        <p:spPr>
          <a:xfrm>
            <a:off x="585216" y="1316736"/>
            <a:ext cx="4315968" cy="2018033"/>
          </a:xfrm>
          <a:prstGeom prst="roundRect">
            <a:avLst>
              <a:gd name="adj" fmla="val 4531"/>
            </a:avLst>
          </a:prstGeom>
          <a:solidFill>
            <a:srgbClr val="FFFFFF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8" name="Google Shape;88;p3" descr="Routine mini-gam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371600"/>
            <a:ext cx="4206240" cy="190830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 txBox="1"/>
          <p:nvPr/>
        </p:nvSpPr>
        <p:spPr>
          <a:xfrm>
            <a:off x="640080" y="3407921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500"/>
              <a:buFont typeface="Open Sans"/>
              <a:buNone/>
            </a:pPr>
            <a:r>
              <a:rPr lang="en-US" sz="1500" b="1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</a:rPr>
              <a:t>Mini-game: </a:t>
            </a:r>
            <a:r>
              <a:rPr lang="en-US" sz="15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four reflective questions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020056" y="1316736"/>
            <a:ext cx="4315968" cy="2018033"/>
          </a:xfrm>
          <a:prstGeom prst="roundRect">
            <a:avLst>
              <a:gd name="adj" fmla="val 4531"/>
            </a:avLst>
          </a:prstGeom>
          <a:solidFill>
            <a:srgbClr val="FFFFFF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1" name="Google Shape;91;p3" descr="Emotional wellbeing check-in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29207" y="1298450"/>
            <a:ext cx="4206239" cy="190830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 txBox="1"/>
          <p:nvPr/>
        </p:nvSpPr>
        <p:spPr>
          <a:xfrm>
            <a:off x="5074920" y="3407921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500"/>
              <a:buFont typeface="Open Sans"/>
              <a:buNone/>
            </a:pPr>
            <a:r>
              <a:rPr lang="en-US" sz="1500" b="1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</a:rPr>
              <a:t>Wellbeing: </a:t>
            </a:r>
            <a:r>
              <a:rPr lang="en-US" sz="15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mood check-in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85216" y="3877056"/>
            <a:ext cx="4315968" cy="2018033"/>
          </a:xfrm>
          <a:prstGeom prst="roundRect">
            <a:avLst>
              <a:gd name="adj" fmla="val 4531"/>
            </a:avLst>
          </a:prstGeom>
          <a:solidFill>
            <a:srgbClr val="FFFFFF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4" name="Google Shape;94;p3" descr="Remo assistant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931920"/>
            <a:ext cx="4206240" cy="190830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/>
        </p:nvSpPr>
        <p:spPr>
          <a:xfrm>
            <a:off x="640080" y="5968241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500"/>
              <a:buFont typeface="Open Sans"/>
              <a:buNone/>
            </a:pPr>
            <a:r>
              <a:rPr lang="en-US" sz="1500" b="1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</a:rPr>
              <a:t>Remo: </a:t>
            </a:r>
            <a:r>
              <a:rPr lang="en-US" sz="15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preset-response assistant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5074920" y="5968241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500"/>
              <a:buFont typeface="Open Sans"/>
              <a:buNone/>
            </a:pPr>
            <a:r>
              <a:rPr lang="en-US" sz="1500" b="1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</a:rPr>
              <a:t>Education: </a:t>
            </a:r>
            <a:r>
              <a:rPr lang="en-US" sz="15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PCOS and menopause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9418320" y="1371600"/>
            <a:ext cx="2240280" cy="4754880"/>
          </a:xfrm>
          <a:prstGeom prst="roundRect">
            <a:avLst>
              <a:gd name="adj" fmla="val 4898"/>
            </a:avLst>
          </a:prstGeom>
          <a:solidFill>
            <a:srgbClr val="E9DDF7"/>
          </a:solidFill>
          <a:ln w="9525" cap="flat" cmpd="sng">
            <a:solidFill>
              <a:srgbClr val="F4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9646920" y="1600200"/>
            <a:ext cx="594360" cy="59436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9" name="Google Shape;99;p3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813341" y="176662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/>
        </p:nvSpPr>
        <p:spPr>
          <a:xfrm>
            <a:off x="9646920" y="23317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3F76"/>
              </a:buClr>
              <a:buSzPts val="1800"/>
              <a:buFont typeface="Poppins" panose="00000600000000000000"/>
              <a:buNone/>
            </a:pPr>
            <a:r>
              <a:rPr lang="en-US" sz="1800" b="1">
                <a:solidFill>
                  <a:srgbClr val="713F76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Educational prototype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9646920" y="3154680"/>
            <a:ext cx="18288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400"/>
              <a:buFont typeface="Open Sans"/>
              <a:buNone/>
            </a:pPr>
            <a:r>
              <a:rPr lang="en-US" sz="14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It does not diagnose, predict or treat medical conditions. For health concerns, seek advice from a qualified healthcare professional.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9646920" y="52578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300"/>
              <a:buFont typeface="Open Sans"/>
              <a:buNone/>
            </a:pPr>
            <a:r>
              <a:rPr lang="en-US" sz="1300" b="1">
                <a:solidFill>
                  <a:srgbClr val="E76F51"/>
                </a:solidFill>
                <a:latin typeface="Open Sans"/>
                <a:ea typeface="Open Sans"/>
                <a:cs typeface="Open Sans"/>
                <a:sym typeface="Open Sans"/>
              </a:rPr>
              <a:t>Demo mode: use fictional information only.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3"/>
          <p:cNvSpPr txBox="1"/>
          <p:nvPr>
            <p:ph type="sldNum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</a:fld>
            <a:endParaRPr sz="1200">
              <a:solidFill>
                <a:srgbClr val="69636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001700" y="3861975"/>
            <a:ext cx="4316100" cy="2018100"/>
          </a:xfrm>
          <a:prstGeom prst="roundRect">
            <a:avLst>
              <a:gd name="adj" fmla="val 4531"/>
            </a:avLst>
          </a:prstGeom>
          <a:solidFill>
            <a:srgbClr val="FFFFFF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5" name="Google Shape;105;p3" title="Screenshot 2026-10-24 7.48.37 PM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056625" y="3924284"/>
            <a:ext cx="4206227" cy="1893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13F76"/>
              </a:buClr>
              <a:buSzPts val="3200"/>
              <a:buFont typeface="Poppins" panose="00000600000000000000"/>
              <a:buNone/>
            </a:pPr>
            <a:r>
              <a:rPr lang="en-US" sz="3200" b="1">
                <a:solidFill>
                  <a:srgbClr val="713F76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Symptom tracking and health summary</a:t>
            </a:r>
            <a:endParaRPr sz="3200"/>
          </a:p>
        </p:txBody>
      </p:sp>
      <p:sp>
        <p:nvSpPr>
          <p:cNvPr id="112" name="Google Shape;112;p4"/>
          <p:cNvSpPr txBox="1"/>
          <p:nvPr/>
        </p:nvSpPr>
        <p:spPr>
          <a:xfrm>
            <a:off x="640080" y="1234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8C8C"/>
              </a:buClr>
              <a:buSzPts val="2000"/>
              <a:buFont typeface="Poppins" panose="00000600000000000000"/>
              <a:buNone/>
            </a:pPr>
            <a:r>
              <a:rPr lang="en-US" sz="2000" b="1">
                <a:solidFill>
                  <a:srgbClr val="168C8C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1  Symptom tracker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000"/>
              <a:buFont typeface="Poppins" panose="00000600000000000000"/>
              <a:buNone/>
            </a:pPr>
            <a:r>
              <a:rPr lang="en-US" sz="2000" b="1">
                <a:solidFill>
                  <a:srgbClr val="E76F51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2  Health summary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85216" y="1682496"/>
            <a:ext cx="5138928" cy="2391397"/>
          </a:xfrm>
          <a:prstGeom prst="roundRect">
            <a:avLst>
              <a:gd name="adj" fmla="val 3824"/>
            </a:avLst>
          </a:prstGeom>
          <a:solidFill>
            <a:srgbClr val="FFFFFF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5" name="Google Shape;115;p4" descr="Symptom tracker form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737360"/>
            <a:ext cx="5029200" cy="228166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6437376" y="1682496"/>
            <a:ext cx="5138928" cy="2391397"/>
          </a:xfrm>
          <a:prstGeom prst="roundRect">
            <a:avLst>
              <a:gd name="adj" fmla="val 3824"/>
            </a:avLst>
          </a:prstGeom>
          <a:solidFill>
            <a:srgbClr val="FFFFFF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7" name="Google Shape;117;p4" descr="Health summary pag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92240" y="1737360"/>
            <a:ext cx="5029200" cy="228166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760720" y="2649594"/>
            <a:ext cx="59436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13F76"/>
          </a:solidFill>
          <a:ln w="12700" cap="flat" cmpd="sng">
            <a:solidFill>
              <a:srgbClr val="713F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640080" y="4156189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500"/>
              <a:buFont typeface="Open Sans"/>
              <a:buNone/>
            </a:pPr>
            <a:r>
              <a:rPr lang="en-US" sz="15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Record a date, concern, impact and optional notes.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6492240" y="4156189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500"/>
              <a:buFont typeface="Open Sans"/>
              <a:buNone/>
            </a:pPr>
            <a:r>
              <a:rPr lang="en-US" sz="15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Entries appear with learning and wellbeing choices.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40080" y="4663440"/>
            <a:ext cx="3108960" cy="685800"/>
          </a:xfrm>
          <a:prstGeom prst="roundRect">
            <a:avLst>
              <a:gd name="adj" fmla="val 16000"/>
            </a:avLst>
          </a:prstGeom>
          <a:solidFill>
            <a:srgbClr val="C9F0EA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640080" y="466344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8C8C"/>
              </a:buClr>
              <a:buSzPts val="1700"/>
              <a:buFont typeface="Poppins" panose="00000600000000000000"/>
              <a:buNone/>
            </a:pPr>
            <a:r>
              <a:rPr lang="en-US" sz="1700" b="1">
                <a:solidFill>
                  <a:srgbClr val="168C8C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1  Enter a demo entry</a:t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840480" y="4828032"/>
            <a:ext cx="50292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13F76"/>
          </a:solidFill>
          <a:ln w="12700" cap="flat" cmpd="sng">
            <a:solidFill>
              <a:srgbClr val="713F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434840" y="4663440"/>
            <a:ext cx="3108960" cy="685800"/>
          </a:xfrm>
          <a:prstGeom prst="roundRect">
            <a:avLst>
              <a:gd name="adj" fmla="val 16000"/>
            </a:avLst>
          </a:prstGeom>
          <a:solidFill>
            <a:srgbClr val="FFE0D6"/>
          </a:solidFill>
          <a:ln w="12700" cap="flat" cmpd="sng">
            <a:solidFill>
              <a:srgbClr val="F6B8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4434840" y="466344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700"/>
              <a:buFont typeface="Poppins" panose="00000600000000000000"/>
              <a:buNone/>
            </a:pPr>
            <a:r>
              <a:rPr lang="en-US" sz="1700" b="1">
                <a:solidFill>
                  <a:srgbClr val="E76F51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2  Saved in the browser</a:t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635240" y="4828032"/>
            <a:ext cx="50292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13F76"/>
          </a:solidFill>
          <a:ln w="12700" cap="flat" cmpd="sng">
            <a:solidFill>
              <a:srgbClr val="713F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229600" y="4663440"/>
            <a:ext cx="3108960" cy="685800"/>
          </a:xfrm>
          <a:prstGeom prst="roundRect">
            <a:avLst>
              <a:gd name="adj" fmla="val 16000"/>
            </a:avLst>
          </a:prstGeom>
          <a:solidFill>
            <a:srgbClr val="DDF3D5"/>
          </a:solidFill>
          <a:ln w="12700" cap="flat" cmpd="sng">
            <a:solidFill>
              <a:srgbClr val="C8E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8229600" y="466344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3845B"/>
              </a:buClr>
              <a:buSzPts val="1700"/>
              <a:buFont typeface="Poppins" panose="00000600000000000000"/>
              <a:buNone/>
            </a:pPr>
            <a:r>
              <a:rPr lang="en-US" sz="1700" b="1">
                <a:solidFill>
                  <a:srgbClr val="43845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3  Review in the summary</a:t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40080" y="562356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D9EAFE"/>
          </a:solidFill>
          <a:ln w="9525" cap="flat" cmpd="sng">
            <a:solidFill>
              <a:srgbClr val="F4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868680" y="562356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Demo entries stay in this browser and do not sync across devices. Please use fictional information.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4"/>
          <p:cNvSpPr txBox="1"/>
          <p:nvPr>
            <p:ph type="sldNum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</a:fld>
            <a:endParaRPr sz="1200">
              <a:solidFill>
                <a:srgbClr val="69636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13F76"/>
              </a:buClr>
              <a:buSzPts val="3200"/>
              <a:buFont typeface="Poppins" panose="00000600000000000000"/>
              <a:buNone/>
            </a:pPr>
            <a:r>
              <a:rPr lang="en-US" sz="3200" b="1">
                <a:solidFill>
                  <a:srgbClr val="713F76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How BloomWithin works</a:t>
            </a:r>
            <a:endParaRPr sz="3200"/>
          </a:p>
        </p:txBody>
      </p:sp>
      <p:sp>
        <p:nvSpPr>
          <p:cNvPr id="138" name="Google Shape;138;p5"/>
          <p:cNvSpPr/>
          <p:nvPr/>
        </p:nvSpPr>
        <p:spPr>
          <a:xfrm>
            <a:off x="548640" y="14173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D9EAFE"/>
          </a:solidFill>
          <a:ln w="9525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731520" y="15544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79B8"/>
              </a:buClr>
              <a:buSzPts val="2000"/>
              <a:buFont typeface="Poppins" panose="00000600000000000000"/>
              <a:buNone/>
            </a:pPr>
            <a:r>
              <a:rPr lang="en-US" sz="2000" b="1">
                <a:solidFill>
                  <a:srgbClr val="3979B8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User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731520" y="1984248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Opens the site in a web browser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886200" y="1947672"/>
            <a:ext cx="502920" cy="4023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13F76"/>
          </a:solidFill>
          <a:ln w="12700" cap="flat" cmpd="sng">
            <a:solidFill>
              <a:srgbClr val="713F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434840" y="14173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DDF3D5"/>
          </a:solidFill>
          <a:ln w="9525" cap="flat" cmpd="sng">
            <a:solidFill>
              <a:srgbClr val="C8E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4617720" y="15544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3845B"/>
              </a:buClr>
              <a:buSzPts val="2000"/>
              <a:buFont typeface="Poppins" panose="00000600000000000000"/>
              <a:buNone/>
            </a:pPr>
            <a:r>
              <a:rPr lang="en-US" sz="2000" b="1">
                <a:solidFill>
                  <a:srgbClr val="43845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Web interface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4617720" y="1984248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Tracker, mini-game, education, check-in and Remo (preset answers)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772400" y="1947672"/>
            <a:ext cx="502920" cy="4023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13F76"/>
          </a:solidFill>
          <a:ln w="12700" cap="flat" cmpd="sng">
            <a:solidFill>
              <a:srgbClr val="713F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321040" y="14173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FFE0D6"/>
          </a:solidFill>
          <a:ln w="9525" cap="flat" cmpd="sng">
            <a:solidFill>
              <a:srgbClr val="F6B8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8503920" y="15544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000"/>
              <a:buFont typeface="Poppins" panose="00000600000000000000"/>
              <a:buNone/>
            </a:pPr>
            <a:r>
              <a:rPr lang="en-US" sz="2000" b="1">
                <a:solidFill>
                  <a:srgbClr val="E76F51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Browser storage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8503920" y="1984248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Demo entries stay on this device; no sync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48640" y="31546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0B8"/>
          </a:solidFill>
          <a:ln w="9525" cap="flat" cmpd="sng">
            <a:solidFill>
              <a:srgbClr val="F4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777240" y="315468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800"/>
              <a:buFont typeface="Open Sans"/>
              <a:buNone/>
            </a:pPr>
            <a:r>
              <a:rPr lang="en-US" sz="1800" b="1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</a:rPr>
              <a:t>Hosted on Netlify: </a:t>
            </a: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hosting only, not evidence of a backend or database.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48640" y="41605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 cap="flat" cmpd="sng">
            <a:solidFill>
              <a:srgbClr val="713F7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777240" y="42976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8C8C"/>
              </a:buClr>
              <a:buSzPts val="2000"/>
              <a:buFont typeface="Poppins" panose="00000600000000000000"/>
              <a:buNone/>
            </a:pPr>
            <a:r>
              <a:rPr lang="en-US" sz="2000" b="1">
                <a:solidFill>
                  <a:srgbClr val="168C8C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Future scope (not implemented)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777240" y="475488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700"/>
              <a:buFont typeface="Open Sans"/>
              <a:buNone/>
            </a:pPr>
            <a:r>
              <a:rPr lang="en-US" sz="17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Possible backend storage, external APIs or live AI integration.</a:t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Technologies used: HTML, CSS and JavaScript</a:t>
            </a:r>
            <a:endParaRPr sz="1800">
              <a:solidFill>
                <a:srgbClr val="188038"/>
              </a:solidFill>
              <a:latin typeface="Roboto Mono" panose="00000009000000000000"/>
              <a:ea typeface="Roboto Mono" panose="00000009000000000000"/>
              <a:cs typeface="Roboto Mono" panose="00000009000000000000"/>
              <a:sym typeface="Roboto Mono" panose="00000009000000000000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Clr>
                <a:srgbClr val="69636C"/>
              </a:buClr>
              <a:buSzPts val="1600"/>
              <a:buFont typeface="Open Sans"/>
              <a:buNone/>
            </a:pPr>
            <a:endParaRPr sz="1600">
              <a:solidFill>
                <a:srgbClr val="69636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5"/>
          <p:cNvSpPr txBox="1"/>
          <p:nvPr>
            <p:ph type="sldNum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</a:fld>
            <a:endParaRPr sz="1200">
              <a:solidFill>
                <a:srgbClr val="69636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13F76"/>
              </a:buClr>
              <a:buSzPts val="3200"/>
              <a:buFont typeface="Poppins" panose="00000600000000000000"/>
              <a:buNone/>
            </a:pPr>
            <a:r>
              <a:rPr lang="en-US" sz="3200" b="1">
                <a:solidFill>
                  <a:srgbClr val="713F76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Safety, privacy and limitations</a:t>
            </a:r>
            <a:endParaRPr sz="3200"/>
          </a:p>
        </p:txBody>
      </p:sp>
      <p:sp>
        <p:nvSpPr>
          <p:cNvPr id="162" name="Google Shape;162;p6"/>
          <p:cNvSpPr/>
          <p:nvPr/>
        </p:nvSpPr>
        <p:spPr>
          <a:xfrm>
            <a:off x="548640" y="1325880"/>
            <a:ext cx="3529584" cy="3337560"/>
          </a:xfrm>
          <a:prstGeom prst="roundRect">
            <a:avLst>
              <a:gd name="adj" fmla="val 3288"/>
            </a:avLst>
          </a:prstGeom>
          <a:solidFill>
            <a:srgbClr val="FFE0D6"/>
          </a:solidFill>
          <a:ln w="9525" cap="flat" cmpd="sng">
            <a:solidFill>
              <a:srgbClr val="F4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77240" y="1508760"/>
            <a:ext cx="566928" cy="566928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4" name="Google Shape;164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35980" y="1667500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 txBox="1"/>
          <p:nvPr/>
        </p:nvSpPr>
        <p:spPr>
          <a:xfrm>
            <a:off x="1508760" y="1554480"/>
            <a:ext cx="2340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200"/>
              <a:buFont typeface="Poppins" panose="00000600000000000000"/>
              <a:buNone/>
            </a:pPr>
            <a:r>
              <a:rPr lang="en-US" sz="2200" b="1">
                <a:solidFill>
                  <a:srgbClr val="E76F51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Safety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822960" y="2286000"/>
            <a:ext cx="2980944" cy="224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Open Sans"/>
              <a:buChar char="•"/>
            </a:pP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Education, not diagnosis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Open Sans"/>
              <a:buChar char="•"/>
            </a:pP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Entries cannot confirm a condition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Open Sans"/>
              <a:buChar char="•"/>
            </a:pP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Remo uses preset answers, not live AI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315968" y="1325880"/>
            <a:ext cx="3529584" cy="3337560"/>
          </a:xfrm>
          <a:prstGeom prst="roundRect">
            <a:avLst>
              <a:gd name="adj" fmla="val 3288"/>
            </a:avLst>
          </a:prstGeom>
          <a:solidFill>
            <a:srgbClr val="C9F0EA"/>
          </a:solidFill>
          <a:ln w="9525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544568" y="1508760"/>
            <a:ext cx="566928" cy="566928"/>
          </a:xfrm>
          <a:prstGeom prst="ellipse">
            <a:avLst/>
          </a:prstGeom>
          <a:solidFill>
            <a:srgbClr val="F4E8FA"/>
          </a:solidFill>
          <a:ln w="12700" cap="flat" cmpd="sng">
            <a:solidFill>
              <a:srgbClr val="F4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9" name="Google Shape;169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03308" y="1667500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 txBox="1"/>
          <p:nvPr/>
        </p:nvSpPr>
        <p:spPr>
          <a:xfrm>
            <a:off x="5276088" y="1554480"/>
            <a:ext cx="2340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8C8C"/>
              </a:buClr>
              <a:buSzPts val="2200"/>
              <a:buFont typeface="Poppins" panose="00000600000000000000"/>
              <a:buNone/>
            </a:pPr>
            <a:r>
              <a:rPr lang="en-US" sz="2200" b="1">
                <a:solidFill>
                  <a:srgbClr val="168C8C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Privacy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4590288" y="2286000"/>
            <a:ext cx="2980944" cy="224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Open Sans"/>
              <a:buChar char="•"/>
            </a:pP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Entries stay in this browser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Open Sans"/>
              <a:buChar char="•"/>
            </a:pP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No automatic sync across devices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Open Sans"/>
              <a:buChar char="•"/>
            </a:pP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Use fictional information only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083296" y="1325880"/>
            <a:ext cx="3529584" cy="3337560"/>
          </a:xfrm>
          <a:prstGeom prst="roundRect">
            <a:avLst>
              <a:gd name="adj" fmla="val 3288"/>
            </a:avLst>
          </a:prstGeom>
          <a:solidFill>
            <a:srgbClr val="D9EAFE"/>
          </a:solidFill>
          <a:ln w="9525" cap="flat" cmpd="sng">
            <a:solidFill>
              <a:srgbClr val="F4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311896" y="1508760"/>
            <a:ext cx="566928" cy="566928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4" name="Google Shape;174;p6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70636" y="1667500"/>
            <a:ext cx="249448" cy="24944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 txBox="1"/>
          <p:nvPr/>
        </p:nvSpPr>
        <p:spPr>
          <a:xfrm>
            <a:off x="9043416" y="1554480"/>
            <a:ext cx="2340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79B8"/>
              </a:buClr>
              <a:buSzPts val="2200"/>
              <a:buFont typeface="Poppins" panose="00000600000000000000"/>
              <a:buNone/>
            </a:pPr>
            <a:r>
              <a:rPr lang="en-US" sz="2200" b="1">
                <a:solidFill>
                  <a:srgbClr val="3979B8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Limitations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8357616" y="2286000"/>
            <a:ext cx="2980944" cy="224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Open Sans"/>
              <a:buChar char="•"/>
            </a:pP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Initial prototype, not clinically validated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Open Sans"/>
              <a:buChar char="•"/>
            </a:pP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No personalised treatment advice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302D33"/>
              </a:buClr>
              <a:buSzPts val="1800"/>
              <a:buFont typeface="Open Sans"/>
              <a:buChar char="•"/>
            </a:pP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Health content needs ongoing review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713F76"/>
          </a:solidFill>
          <a:ln w="12700" cap="flat" cmpd="sng">
            <a:solidFill>
              <a:srgbClr val="713F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822960" y="4937760"/>
            <a:ext cx="105156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Open Sans"/>
              <a:buNone/>
            </a:pPr>
            <a:r>
              <a:rPr lang="en-US" sz="1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BloomWithin is an educational prototype. It does not diagnose, predict, or treat medical conditions. For health concerns, seek advice from an appropriate qualified healthcare professional.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6"/>
          <p:cNvSpPr txBox="1"/>
          <p:nvPr>
            <p:ph type="sldNum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</a:fld>
            <a:endParaRPr sz="1200">
              <a:solidFill>
                <a:srgbClr val="69636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13F76"/>
              </a:buClr>
              <a:buSzPts val="3200"/>
              <a:buFont typeface="Poppins" panose="00000600000000000000"/>
              <a:buNone/>
            </a:pPr>
            <a:r>
              <a:rPr lang="en-US" sz="3200" b="1">
                <a:solidFill>
                  <a:srgbClr val="713F76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Expected impact and future scope</a:t>
            </a:r>
            <a:endParaRPr sz="3200"/>
          </a:p>
        </p:txBody>
      </p:sp>
      <p:sp>
        <p:nvSpPr>
          <p:cNvPr id="186" name="Google Shape;186;p7"/>
          <p:cNvSpPr txBox="1"/>
          <p:nvPr/>
        </p:nvSpPr>
        <p:spPr>
          <a:xfrm>
            <a:off x="548640" y="118872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8C8C"/>
              </a:buClr>
              <a:buSzPts val="2200"/>
              <a:buFont typeface="Poppins" panose="00000600000000000000"/>
              <a:buNone/>
            </a:pPr>
            <a:r>
              <a:rPr lang="en-US" sz="2200" b="1">
                <a:solidFill>
                  <a:srgbClr val="168C8C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Intended benefits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548640" y="162763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9636C"/>
              </a:buClr>
              <a:buSzPts val="1400"/>
              <a:buFont typeface="Open Sans"/>
              <a:buNone/>
            </a:pPr>
            <a:r>
              <a:rPr lang="en-US" sz="1400" b="1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  <a:t>Intended, not measured outcomes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48640" y="210312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777240" y="210312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800"/>
              <a:buFont typeface="Open Sans"/>
              <a:buNone/>
            </a:pPr>
            <a:r>
              <a:rPr lang="en-US" sz="1800" b="1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</a:rPr>
              <a:t>Education</a:t>
            </a: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  →  Awareness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48640" y="306324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F4E8FA"/>
          </a:solidFill>
          <a:ln w="9525" cap="flat" cmpd="sng">
            <a:solidFill>
              <a:srgbClr val="F4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777240" y="306324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800"/>
              <a:buFont typeface="Open Sans"/>
              <a:buNone/>
            </a:pPr>
            <a:r>
              <a:rPr lang="en-US" sz="1800" b="1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</a:rPr>
              <a:t>Symptom tracker</a:t>
            </a: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  →  Organised notes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8640" y="40233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777240" y="402336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800"/>
              <a:buFont typeface="Open Sans"/>
              <a:buNone/>
            </a:pPr>
            <a:r>
              <a:rPr lang="en-US" sz="1800" b="1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</a:rPr>
              <a:t>Wellbeing check-in</a:t>
            </a: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  →  Time to reflect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48640" y="498348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F4E8FA"/>
          </a:solidFill>
          <a:ln w="9525" cap="flat" cmpd="sng">
            <a:solidFill>
              <a:srgbClr val="F4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777240" y="498348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800"/>
              <a:buFont typeface="Open Sans"/>
              <a:buNone/>
            </a:pPr>
            <a:r>
              <a:rPr lang="en-US" sz="1800" b="1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</a:rPr>
              <a:t>Health summary</a:t>
            </a:r>
            <a:r>
              <a:rPr lang="en-US" sz="18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  →  Prepared questions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6309360" y="11887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200"/>
              <a:buFont typeface="Poppins" panose="00000600000000000000"/>
              <a:buNone/>
            </a:pPr>
            <a:r>
              <a:rPr lang="en-US" sz="2200" b="1">
                <a:solidFill>
                  <a:srgbClr val="E76F51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Future goals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6309360" y="162763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9636C"/>
              </a:buClr>
              <a:buSzPts val="1400"/>
              <a:buFont typeface="Open Sans"/>
              <a:buNone/>
            </a:pPr>
            <a:r>
              <a:rPr lang="en-US" sz="1400" b="1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  <a:t>Goals, not completed work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309360" y="2112264"/>
            <a:ext cx="457200" cy="457200"/>
          </a:xfrm>
          <a:prstGeom prst="ellipse">
            <a:avLst/>
          </a:prstGeom>
          <a:solidFill>
            <a:srgbClr val="C9F0EA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6309360" y="21122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600"/>
              <a:buFont typeface="Poppins" panose="00000600000000000000"/>
              <a:buNone/>
            </a:pPr>
            <a:r>
              <a:rPr lang="en-US" sz="1600" b="1">
                <a:solidFill>
                  <a:srgbClr val="593B6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1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6949440" y="2057400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Confirm the actual technology stack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309360" y="2788920"/>
            <a:ext cx="457200" cy="457200"/>
          </a:xfrm>
          <a:prstGeom prst="ellipse">
            <a:avLst/>
          </a:prstGeom>
          <a:solidFill>
            <a:srgbClr val="FFE0D6"/>
          </a:solidFill>
          <a:ln w="12700" cap="flat" cmpd="sng">
            <a:solidFill>
              <a:srgbClr val="F6B8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6309360" y="2788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600"/>
              <a:buFont typeface="Poppins" panose="00000600000000000000"/>
              <a:buNone/>
            </a:pPr>
            <a:r>
              <a:rPr lang="en-US" sz="1600" b="1">
                <a:solidFill>
                  <a:srgbClr val="593B6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2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6949440" y="2734056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Review health content against credible sources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309360" y="3465576"/>
            <a:ext cx="457200" cy="457200"/>
          </a:xfrm>
          <a:prstGeom prst="ellipse">
            <a:avLst/>
          </a:prstGeom>
          <a:solidFill>
            <a:srgbClr val="FFF0B8"/>
          </a:solidFill>
          <a:ln w="12700" cap="flat" cmpd="sng">
            <a:solidFill>
              <a:srgbClr val="C8E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6309360" y="34655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600"/>
              <a:buFont typeface="Poppins" panose="00000600000000000000"/>
              <a:buNone/>
            </a:pPr>
            <a:r>
              <a:rPr lang="en-US" sz="1600" b="1">
                <a:solidFill>
                  <a:srgbClr val="593B6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6949440" y="3410712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Review privacy and safeguarding requirements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309360" y="4142232"/>
            <a:ext cx="457200" cy="457200"/>
          </a:xfrm>
          <a:prstGeom prst="ellipse">
            <a:avLst/>
          </a:prstGeom>
          <a:solidFill>
            <a:srgbClr val="D9EAFE"/>
          </a:solidFill>
          <a:ln w="12700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6309360" y="4142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600"/>
              <a:buFont typeface="Poppins" panose="00000600000000000000"/>
              <a:buNone/>
            </a:pPr>
            <a:r>
              <a:rPr lang="en-US" sz="1600" b="1">
                <a:solidFill>
                  <a:srgbClr val="593B6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4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6949440" y="4087368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Improve mobile usability and accessibility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309360" y="4818888"/>
            <a:ext cx="457200" cy="457200"/>
          </a:xfrm>
          <a:prstGeom prst="ellipse">
            <a:avLst/>
          </a:prstGeom>
          <a:solidFill>
            <a:srgbClr val="DDF3D5"/>
          </a:solidFill>
          <a:ln w="12700" cap="flat" cmpd="sng">
            <a:solidFill>
              <a:srgbClr val="F6B8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6309360" y="48188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600"/>
              <a:buFont typeface="Poppins" panose="00000600000000000000"/>
              <a:buNone/>
            </a:pPr>
            <a:r>
              <a:rPr lang="en-US" sz="1600" b="1">
                <a:solidFill>
                  <a:srgbClr val="593B6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6949440" y="4764024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Evaluate the proposed doctor-preparation and verified support-directory features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309360" y="5495544"/>
            <a:ext cx="457200" cy="457200"/>
          </a:xfrm>
          <a:prstGeom prst="ellipse">
            <a:avLst/>
          </a:prstGeom>
          <a:solidFill>
            <a:srgbClr val="E9DDF7"/>
          </a:solidFill>
          <a:ln w="12700" cap="flat" cmpd="sng">
            <a:solidFill>
              <a:srgbClr val="C8E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6309360" y="54955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600"/>
              <a:buFont typeface="Poppins" panose="00000600000000000000"/>
              <a:buNone/>
            </a:pPr>
            <a:r>
              <a:rPr lang="en-US" sz="1600" b="1">
                <a:solidFill>
                  <a:srgbClr val="593B6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6949440" y="5440680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Conduct usability testing and evaluate user understanding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7"/>
          <p:cNvSpPr txBox="1"/>
          <p:nvPr>
            <p:ph type="sldNum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</a:fld>
            <a:endParaRPr sz="1200">
              <a:solidFill>
                <a:srgbClr val="69636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13F76"/>
              </a:buClr>
              <a:buSzPts val="3200"/>
              <a:buFont typeface="Poppins" panose="00000600000000000000"/>
              <a:buNone/>
            </a:pPr>
            <a:r>
              <a:rPr lang="en-US" sz="3200" b="1">
                <a:solidFill>
                  <a:srgbClr val="713F76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References and project links</a:t>
            </a:r>
            <a:endParaRPr sz="3200"/>
          </a:p>
        </p:txBody>
      </p:sp>
      <p:sp>
        <p:nvSpPr>
          <p:cNvPr id="223" name="Google Shape;223;p8"/>
          <p:cNvSpPr/>
          <p:nvPr/>
        </p:nvSpPr>
        <p:spPr>
          <a:xfrm>
            <a:off x="548640" y="128016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F0E5FA"/>
          </a:solidFill>
          <a:ln w="9525" cap="flat" cmpd="sng">
            <a:solidFill>
              <a:srgbClr val="F4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822960" y="14173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2600"/>
              <a:buFont typeface="Poppins" panose="00000600000000000000"/>
              <a:buNone/>
            </a:pPr>
            <a:r>
              <a:rPr lang="en-US" sz="2600" b="1">
                <a:solidFill>
                  <a:srgbClr val="593B63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BloomWithin</a:t>
            </a:r>
            <a:endParaRPr sz="2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600"/>
              <a:buFont typeface="Open Sans"/>
              <a:buNone/>
            </a:pPr>
            <a:r>
              <a:rPr lang="en-US" sz="1600" b="1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recHERsion’26  ·  Women’s Health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822960" y="242316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8C8C"/>
              </a:buClr>
              <a:buSzPts val="1300"/>
              <a:buFont typeface="Open Sans"/>
              <a:buNone/>
            </a:pPr>
            <a:r>
              <a:rPr lang="en-US" sz="1300">
                <a:solidFill>
                  <a:srgbClr val="168C8C"/>
                </a:solidFill>
                <a:latin typeface="Open Sans"/>
                <a:ea typeface="Open Sans"/>
                <a:cs typeface="Open Sans"/>
                <a:sym typeface="Open Sans"/>
              </a:rPr>
              <a:t>Team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822960" y="267919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2D33"/>
              </a:buClr>
              <a:buSzPts val="1700"/>
              <a:buFont typeface="Open Sans"/>
              <a:buNone/>
            </a:pPr>
            <a:r>
              <a:rPr lang="en-US" sz="1700">
                <a:solidFill>
                  <a:srgbClr val="302D33"/>
                </a:solidFill>
                <a:latin typeface="Open Sans"/>
                <a:ea typeface="Open Sans"/>
                <a:cs typeface="Open Sans"/>
                <a:sym typeface="Open Sans"/>
              </a:rPr>
              <a:t>Pritika Madanraj and Youketha R</a:t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300"/>
              <a:buFont typeface="Open Sans"/>
              <a:buNone/>
            </a:pPr>
            <a:r>
              <a:rPr lang="en-US" sz="1300">
                <a:solidFill>
                  <a:srgbClr val="E76F51"/>
                </a:solidFill>
                <a:latin typeface="Open Sans"/>
                <a:ea typeface="Open Sans"/>
                <a:cs typeface="Open Sans"/>
                <a:sym typeface="Open Sans"/>
              </a:rPr>
              <a:t>Live prototype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822960" y="345643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3D77"/>
              </a:buClr>
              <a:buSzPts val="1500"/>
              <a:buFont typeface="Open Sans"/>
              <a:buNone/>
            </a:pPr>
            <a:r>
              <a:rPr lang="en-US" sz="1500" u="sng">
                <a:solidFill>
                  <a:srgbClr val="8B3D77"/>
                </a:solidFill>
                <a:latin typeface="Open Sans"/>
                <a:ea typeface="Open Sans"/>
                <a:cs typeface="Open Sans"/>
                <a:sym typeface="Open Sans"/>
                <a:hlinkClick r:id="rId1"/>
              </a:rPr>
              <a:t>bloomwithin-ypforwomen-ac01a5.netlify.app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822960" y="39776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79B8"/>
              </a:buClr>
              <a:buSzPts val="1300"/>
              <a:buFont typeface="Open Sans"/>
              <a:buNone/>
            </a:pPr>
            <a:r>
              <a:rPr lang="en-US" sz="1300">
                <a:solidFill>
                  <a:srgbClr val="3979B8"/>
                </a:solidFill>
                <a:latin typeface="Open Sans"/>
                <a:ea typeface="Open Sans"/>
                <a:cs typeface="Open Sans"/>
                <a:sym typeface="Open Sans"/>
              </a:rPr>
              <a:t>GitHub repository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822960" y="4297680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 cap="flat" cmpd="sng">
            <a:solidFill>
              <a:srgbClr val="713F7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1005840" y="4297680"/>
            <a:ext cx="4480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3D77"/>
              </a:buClr>
              <a:buSzPts val="1600"/>
              <a:buFont typeface="Open Sans"/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https://github.com/Youketha2008-yka/BloomWithin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309360" y="1280160"/>
            <a:ext cx="5303520" cy="3977640"/>
          </a:xfrm>
          <a:prstGeom prst="roundRect">
            <a:avLst>
              <a:gd name="adj" fmla="val 2759"/>
            </a:avLst>
          </a:prstGeom>
          <a:solidFill>
            <a:srgbClr val="E8F6F1"/>
          </a:solidFill>
          <a:ln w="9525" cap="flat" cmpd="sng">
            <a:solidFill>
              <a:srgbClr val="D8B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3845B"/>
              </a:buClr>
              <a:buSzPts val="2200"/>
              <a:buFont typeface="Poppins" panose="00000600000000000000"/>
              <a:buNone/>
            </a:pPr>
            <a:r>
              <a:rPr lang="en-US" sz="2200" b="1">
                <a:solidFill>
                  <a:srgbClr val="43845B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Health references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6583680" y="20574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500"/>
              <a:buFont typeface="Open Sans"/>
              <a:buNone/>
            </a:pPr>
            <a:r>
              <a:rPr lang="en-US" sz="1500" u="sng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WHO: Polycystic ovary syndrome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6583680" y="262432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500"/>
              <a:buFont typeface="Open Sans"/>
              <a:buNone/>
            </a:pPr>
            <a:r>
              <a:rPr lang="en-US" sz="1500" u="sng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WHO: Menopause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6583680" y="3191256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500"/>
              <a:buFont typeface="Open Sans"/>
              <a:buNone/>
            </a:pPr>
            <a:r>
              <a:rPr lang="en-US" sz="1500" u="sng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Ministry of Health and Family Welfare, India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6583680" y="3758184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3B63"/>
              </a:buClr>
              <a:buSzPts val="1500"/>
              <a:buFont typeface="Open Sans"/>
              <a:buNone/>
            </a:pPr>
            <a:r>
              <a:rPr lang="en-US" sz="1500" u="sng">
                <a:solidFill>
                  <a:srgbClr val="593B63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Ministry of Women and Child Development, India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6583680" y="443484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9636C"/>
              </a:buClr>
              <a:buSzPts val="1300"/>
              <a:buFont typeface="Open Sans"/>
              <a:buNone/>
            </a:pPr>
            <a:r>
              <a:rPr lang="en-US" sz="130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  <a:t>These organisations do not endorse BloomWithin.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713F76"/>
          </a:solidFill>
          <a:ln w="12700" cap="flat" cmpd="sng">
            <a:solidFill>
              <a:srgbClr val="713F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 panose="00000600000000000000"/>
              <a:buNone/>
            </a:pPr>
            <a:r>
              <a:rPr lang="en-US" sz="2400" b="1">
                <a:solidFill>
                  <a:srgbClr val="FFFFFF"/>
                </a:solidFill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Understand your body. Nurture your wellbeing.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8"/>
          <p:cNvSpPr txBox="1"/>
          <p:nvPr>
            <p:ph type="sldNum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69636C"/>
                </a:solidFill>
                <a:latin typeface="Open Sans"/>
                <a:ea typeface="Open Sans"/>
                <a:cs typeface="Open Sans"/>
                <a:sym typeface="Open Sans"/>
              </a:rPr>
            </a:fld>
            <a:endParaRPr sz="1200">
              <a:solidFill>
                <a:srgbClr val="69636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3449</Words>
  <Application>WPS Presentation</Application>
  <PresentationFormat/>
  <Paragraphs>222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Arial</vt:lpstr>
      <vt:lpstr>Open Sans</vt:lpstr>
      <vt:lpstr>Poppins</vt:lpstr>
      <vt:lpstr>Roboto Mono</vt:lpstr>
      <vt:lpstr>Microsoft YaHei</vt:lpstr>
      <vt:lpstr>Arial Unicode MS</vt:lpstr>
      <vt:lpstr>Office Theme</vt:lpstr>
      <vt:lpstr>PowerPoint 演示文稿</vt:lpstr>
      <vt:lpstr>The challenge and our solution</vt:lpstr>
      <vt:lpstr>Explore the prototype</vt:lpstr>
      <vt:lpstr>Symptom tracking and health summary</vt:lpstr>
      <vt:lpstr>How BloomWithin works</vt:lpstr>
      <vt:lpstr>Safety, privacy and limitations</vt:lpstr>
      <vt:lpstr>Expected impact and future scope</vt:lpstr>
      <vt:lpstr>References and project links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Pritika Madanraj and Youketha R</dc:creator>
  <cp:lastModifiedBy>Youketha</cp:lastModifiedBy>
  <cp:revision>1</cp:revision>
  <dcterms:created xsi:type="dcterms:W3CDTF">2026-10-25T05:53:44Z</dcterms:created>
  <dcterms:modified xsi:type="dcterms:W3CDTF">2026-10-25T05:53:44Z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F9B24FECD67F4E71AA999A4D84B16BF6_12</vt:lpwstr>
  </property>
  <property fmtid="{D5CDD505-2E9C-101B-9397-08002B2CF9AE}" pid="3" name="KSOProductBuildVer">
    <vt:lpwstr>1033-12.1.0.29162</vt:lpwstr>
  </property>
</Properties>
</file>